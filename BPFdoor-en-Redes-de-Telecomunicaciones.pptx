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</p:embeddedFont>
    <p:embeddedFont>
      <p:font typeface="Roboto Slab" panose="020F0502020204030204" pitchFamily="2" charset="0"/>
      <p:regular r:id="rId19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0620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rendmicro.com/en_gb/research/23/g/detecting-bpfdoor-backdoor-variants-abusing-bpf-filters.html" TargetMode="External"/><Relationship Id="rId3" Type="http://schemas.openxmlformats.org/officeDocument/2006/relationships/hyperlink" Target="https://www.rapid7.com/blog/post/tr-bpfdoor-telecom-networks-sleeper-cells-threat-research-report/" TargetMode="External"/><Relationship Id="rId7" Type="http://schemas.openxmlformats.org/officeDocument/2006/relationships/hyperlink" Target="https://www.fortinet.com/blog/threat-research/new-ebpf-filters-for-symbiote-and-bpfdoor-malwar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github.com/gwillgues/BPFDoor/" TargetMode="External"/><Relationship Id="rId5" Type="http://schemas.openxmlformats.org/officeDocument/2006/relationships/hyperlink" Target="https://github.com/rapid7/Rapid7-Labs/tree/main/BPFDoor" TargetMode="External"/><Relationship Id="rId4" Type="http://schemas.openxmlformats.org/officeDocument/2006/relationships/hyperlink" Target="https://www.rapid7.com/blog/post/tr-new-whitepaper-stealthy-bpfdoor-varian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6181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BPFdoor en Redes de Telecomunicaciones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1953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Una campaña de espionaje patrocinada por el estado chino —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Menshen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que implanta puertas traseras a nivel de kernel en infraestructura crítica de telecomunicaciones para recolección de inteligencia geopolítica a largo plazo.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633918"/>
            <a:ext cx="3292912" cy="426244"/>
          </a:xfrm>
          <a:prstGeom prst="roundRect">
            <a:avLst>
              <a:gd name="adj" fmla="val 6386"/>
            </a:avLst>
          </a:prstGeom>
          <a:solidFill>
            <a:srgbClr val="082545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29878" y="5701903"/>
            <a:ext cx="302073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AMENAZA AVANZADA PERSISTENTE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200049" y="5626298"/>
            <a:ext cx="259639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66A8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4343757" y="5701903"/>
            <a:ext cx="230897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RAPID7 LABS · MARZO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158" y="642342"/>
            <a:ext cx="7680484" cy="1306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Objetivo: Protocolos de Señalización</a:t>
            </a:r>
            <a:endParaRPr lang="en-US" sz="4100" dirty="0"/>
          </a:p>
        </p:txBody>
      </p:sp>
      <p:sp>
        <p:nvSpPr>
          <p:cNvPr id="4" name="Text 1"/>
          <p:cNvSpPr/>
          <p:nvPr/>
        </p:nvSpPr>
        <p:spPr>
          <a:xfrm>
            <a:off x="6218158" y="2238256"/>
            <a:ext cx="768048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 Menshen busca </a:t>
            </a:r>
            <a:r>
              <a:rPr lang="en-US" sz="16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acceso persistente a largo plazo</a:t>
            </a: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protocolos que gestionan movilidad, identidad y conectividad global de suscriptores — SS7, Diameter y SCTP — mucho más valiosos que una filtración de datos convencional.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218158" y="3419118"/>
            <a:ext cx="3743801" cy="2472333"/>
          </a:xfrm>
          <a:prstGeom prst="roundRect">
            <a:avLst>
              <a:gd name="adj" fmla="val 126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6427232" y="3628192"/>
            <a:ext cx="2702600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SS7 / Diameter / SCTP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6427232" y="4070390"/>
            <a:ext cx="3325654" cy="964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Gestionan movilidad, identidad y conectividad de suscriptores a escala global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54722" y="3419118"/>
            <a:ext cx="3743920" cy="2472333"/>
          </a:xfrm>
          <a:prstGeom prst="roundRect">
            <a:avLst>
              <a:gd name="adj" fmla="val 126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10363795" y="3628192"/>
            <a:ext cx="3325773" cy="653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Capacidades de Inteligencia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0363795" y="4396978"/>
            <a:ext cx="3325773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Rastreo de ubicaciones, interceptación de metadatos y vigilancia de objetivos gubernamentales y diplomáticos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18158" y="6084213"/>
            <a:ext cx="7680484" cy="1503045"/>
          </a:xfrm>
          <a:prstGeom prst="roundRect">
            <a:avLst>
              <a:gd name="adj" fmla="val 208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427232" y="6293287"/>
            <a:ext cx="2789396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Víctimas Identificadas</a:t>
            </a:r>
            <a:endParaRPr lang="en-US" sz="2050" dirty="0"/>
          </a:p>
        </p:txBody>
      </p:sp>
      <p:sp>
        <p:nvSpPr>
          <p:cNvPr id="13" name="Text 10"/>
          <p:cNvSpPr/>
          <p:nvPr/>
        </p:nvSpPr>
        <p:spPr>
          <a:xfrm>
            <a:off x="6427232" y="6735485"/>
            <a:ext cx="7262336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 Telecom (Corea del Sur), Hong Kong, Myanmar, Malasia, Egipto y Oriente Medio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9372005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Arquitectura de Red de Telecomunicaciones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314343"/>
            <a:ext cx="2524601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Tres Capas Funcionales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740706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 la arquitectura opera sobre infraestructura </a:t>
            </a: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bare-metal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servidores Linux/BSD endurecidos: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389834"/>
            <a:ext cx="6015395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Edge: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Estaciones base RAN, firewalls, VPNs, gateways DNS e Internet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IP: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Routers de alta capacidad con protocolos SS7, Diameter y SCTP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Plane: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HLR/HSS, AuC, control de políticas, facturación y bases de datos de roaming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4260" y="619125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Acceso Inicial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744260" y="1582579"/>
            <a:ext cx="76554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grupo explota vulnerabilidades en infraestructura perimetral para establecer una posición inicial antes de desplegar el implante BPFdoor.</a:t>
            </a:r>
            <a:endParaRPr lang="en-US" sz="1650" dirty="0"/>
          </a:p>
        </p:txBody>
      </p:sp>
      <p:sp>
        <p:nvSpPr>
          <p:cNvPr id="5" name="Shape 2"/>
          <p:cNvSpPr/>
          <p:nvPr/>
        </p:nvSpPr>
        <p:spPr>
          <a:xfrm>
            <a:off x="744260" y="2465903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00" y="2465903"/>
            <a:ext cx="91440" cy="15819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48345" y="2701409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Vectores de Entrada</a:t>
            </a:r>
            <a:endParaRPr lang="en-US" sz="2050" dirty="0"/>
          </a:p>
        </p:txBody>
      </p:sp>
      <p:sp>
        <p:nvSpPr>
          <p:cNvPr id="8" name="Text 4"/>
          <p:cNvSpPr/>
          <p:nvPr/>
        </p:nvSpPr>
        <p:spPr>
          <a:xfrm>
            <a:off x="1048345" y="3153251"/>
            <a:ext cx="71158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VPNs Ivanti Connect Secure, firewalls Fortinet, routers Cisco/Juniper, hosts VMware ESXi, Exchange Server, phishing y cadena de suministro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4260" y="4247198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00" y="4247198"/>
            <a:ext cx="91440" cy="15819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8345" y="4482703"/>
            <a:ext cx="3933349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Herramientas Post-Explotación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1048345" y="4934545"/>
            <a:ext cx="71158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CrossC2, TinyShell, escáneres SSH de fuerza bruta y registradores de teclas ELF con listas de credenciales telecom (términos como "imsi")</a:t>
            </a:r>
            <a:endParaRPr lang="en-US" sz="1650" dirty="0"/>
          </a:p>
        </p:txBody>
      </p:sp>
      <p:sp>
        <p:nvSpPr>
          <p:cNvPr id="13" name="Shape 8"/>
          <p:cNvSpPr/>
          <p:nvPr/>
        </p:nvSpPr>
        <p:spPr>
          <a:xfrm>
            <a:off x="744260" y="6028492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400" y="6028492"/>
            <a:ext cx="91440" cy="158198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48345" y="626399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Detección de Rapid7</a:t>
            </a:r>
            <a:endParaRPr lang="en-US" sz="2050" dirty="0"/>
          </a:p>
        </p:txBody>
      </p:sp>
      <p:sp>
        <p:nvSpPr>
          <p:cNvPr id="16" name="Text 10"/>
          <p:cNvSpPr/>
          <p:nvPr/>
        </p:nvSpPr>
        <p:spPr>
          <a:xfrm>
            <a:off x="1048345" y="6715839"/>
            <a:ext cx="71158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Script de código abierto gratuito para detectar variantes antiguas y nuevas de BPFdoor; coordinación con CERTs nacionales y socios gubernamentales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10791"/>
            <a:ext cx="976884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BPFdoor: Puerta Trasera a Nivel de Kernel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11" y="2164437"/>
            <a:ext cx="8437245" cy="4781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3584" y="16648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¿Cómo funciona?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623584" y="2148602"/>
            <a:ext cx="4319707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BPFdoor inyecta un </a:t>
            </a: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filtro BPF personalizado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kernel Linux que inspecciona silenciosamente todo el tráfico entrante sin: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9623584" y="3197781"/>
            <a:ext cx="4319707" cy="1609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Abrir puertos de escucha (invisible en netstat, ss o nmap)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Generar tráfico C2 visible</a:t>
            </a:r>
            <a:endParaRPr lang="en-US" sz="15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Dejar procesos detectables en espacio de usuario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23584" y="4963716"/>
            <a:ext cx="4319707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activa únicamente al recibir un </a:t>
            </a: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"paquete mágico"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secuencia de bytes predefinida. El sistema parece completamente limpio.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623584" y="6051947"/>
            <a:ext cx="4319707" cy="1371481"/>
          </a:xfrm>
          <a:prstGeom prst="roundRect">
            <a:avLst>
              <a:gd name="adj" fmla="val 2171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942" y="6339602"/>
            <a:ext cx="248007" cy="1983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68307" y="6275070"/>
            <a:ext cx="3476625" cy="892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filtro BPF actúa antes que el firewall local — puede ver y procesar paquetes antes de que el SO los bloquee.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742831"/>
            <a:ext cx="11166634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El Paquete Mágico y Evasión de Monitoreo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4208" y="1880116"/>
            <a:ext cx="10161984" cy="465081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97405" y="3041301"/>
            <a:ext cx="653371" cy="6533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5294" y="5426512"/>
            <a:ext cx="1907842" cy="367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Shell Oculto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5456" y="3042526"/>
            <a:ext cx="653370" cy="65337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889" y="5426512"/>
            <a:ext cx="1907842" cy="367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Activación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14120" y="3042526"/>
            <a:ext cx="653370" cy="65337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19553" y="5426512"/>
            <a:ext cx="1907842" cy="367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Filtro BPF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09717" y="3042526"/>
            <a:ext cx="653371" cy="653371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75947" y="5242752"/>
            <a:ext cx="1907842" cy="735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Paquete Mágico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81407" y="6778109"/>
            <a:ext cx="130675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implante permanece dormido hasta recibir el paquete activador. Como el filtro opera a nivel de kernel, herramientas como tcpdump y Wireshark pueden ser burladas — el malware "quita" los paquetes antes de que las herramientas de monitoreo los vean.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3323"/>
            <a:ext cx="78975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Técnicas Avanzadas de Sigilo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03573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86194"/>
            <a:ext cx="28609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Ocultación en HTTPS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76613"/>
            <a:ext cx="637960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Comandos ocultos en tráfico HTTPS legítimo; se activan tras el descifrado en balanceadores SSL y proxies inversos de la red interna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03573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886194"/>
            <a:ext cx="34731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Propagación Lateral ICMP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376613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Servidores comprometidos se comunican mediante paquetes ICMP manipulados con valor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0xFFFFFFFF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sin tráfico C2 tradicional detectable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491894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769412"/>
            <a:ext cx="32908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Auto-Ocultamiento eBPF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6259830"/>
            <a:ext cx="6379607" cy="1096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Rootkits como LinkPro interceptan sys_bpf para eliminarse de </a:t>
            </a:r>
            <a:r>
              <a:rPr lang="en-US" sz="175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bpftool prog list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invisibles incluso para herramientas de diagnóstico eBPF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491894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769412"/>
            <a:ext cx="34145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Suplantación de Procesos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625983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Imita </a:t>
            </a: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hpasmrlited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HPE ProLiant y componentes de Docker/Kubernetes (AMF, SMF, UDM) en entornos 5G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8986361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Túnel ICMP: Acceso al Núcleo Aislado (L3)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31434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Salto de DMZ al Core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740706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atacante alcanza el </a:t>
            </a: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HSS (Home Subscriber Server)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núcleo aislado usando ICMP como transporte encubierto: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389834"/>
            <a:ext cx="6015395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0xFFFFFFFF</a:t>
            </a: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 el payload ICMP actúa como señal de "no reenviar" — evita bucles y reduce ruido en red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ICMP está permitido entre zonas para monitoreo, considerándose de bajo riesgo</a:t>
            </a:r>
            <a:endParaRPr lang="en-US" sz="1400" dirty="0"/>
          </a:p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tráfico parece una serie de pings normales, no exfiltración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2228" y="577453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Detección y Defensa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82228" y="1437799"/>
            <a:ext cx="7779544" cy="1435656"/>
          </a:xfrm>
          <a:prstGeom prst="roundRect">
            <a:avLst>
              <a:gd name="adj" fmla="val 2037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705088" y="1460659"/>
            <a:ext cx="779621" cy="1389936"/>
          </a:xfrm>
          <a:prstGeom prst="roundRect">
            <a:avLst>
              <a:gd name="adj" fmla="val 23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948690" y="1972866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652111" y="1655564"/>
            <a:ext cx="4218980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Monitoreo de Comportamiento (EDR)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652111" y="2060615"/>
            <a:ext cx="6591895" cy="595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Herramientas como </a:t>
            </a: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Falco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detectan syscall </a:t>
            </a:r>
            <a:r>
              <a:rPr lang="en-US" sz="15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setsockopt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 </a:t>
            </a:r>
            <a:r>
              <a:rPr lang="en-US" sz="15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SO_ATTACH_FILTER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señal de carga de filtros BPF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2228" y="3040856"/>
            <a:ext cx="7779544" cy="1428036"/>
          </a:xfrm>
          <a:prstGeom prst="roundRect">
            <a:avLst>
              <a:gd name="adj" fmla="val 2048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705088" y="3063716"/>
            <a:ext cx="779621" cy="1382316"/>
          </a:xfrm>
          <a:prstGeom prst="roundRect">
            <a:avLst>
              <a:gd name="adj" fmla="val 23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948690" y="3572113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652111" y="3258622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Auditoría eBPF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652111" y="3663672"/>
            <a:ext cx="6591895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Revisar periódicamente con </a:t>
            </a:r>
            <a:r>
              <a:rPr lang="en-US" sz="15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bpftool prog list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comparar contra línea base. Atención a programas con nombres aleatorios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2228" y="4636294"/>
            <a:ext cx="7779544" cy="1428036"/>
          </a:xfrm>
          <a:prstGeom prst="roundRect">
            <a:avLst>
              <a:gd name="adj" fmla="val 2048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2"/>
          <p:cNvSpPr/>
          <p:nvPr/>
        </p:nvSpPr>
        <p:spPr>
          <a:xfrm>
            <a:off x="705088" y="4659154"/>
            <a:ext cx="779621" cy="1382316"/>
          </a:xfrm>
          <a:prstGeom prst="roundRect">
            <a:avLst>
              <a:gd name="adj" fmla="val 23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948690" y="5167551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1652111" y="4854059"/>
            <a:ext cx="3141345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Restricción de Capacidades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1652111" y="5259110"/>
            <a:ext cx="6591895" cy="58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Desactivar </a:t>
            </a:r>
            <a:r>
              <a:rPr lang="en-US" sz="1500" dirty="0">
                <a:solidFill>
                  <a:srgbClr val="D6E5EF"/>
                </a:solidFill>
                <a:highlight>
                  <a:srgbClr val="2D34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kernel.bpf_enable_unprivileged=0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; firmar módulos del kernel; activar modo lockdown para restringir /dev/mem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82228" y="6231731"/>
            <a:ext cx="7779544" cy="1420416"/>
          </a:xfrm>
          <a:prstGeom prst="roundRect">
            <a:avLst>
              <a:gd name="adj" fmla="val 2059"/>
            </a:avLst>
          </a:prstGeom>
          <a:solidFill>
            <a:srgbClr val="202733"/>
          </a:solidFill>
          <a:ln w="22860">
            <a:solidFill>
              <a:srgbClr val="585F6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705088" y="6254591"/>
            <a:ext cx="779621" cy="1374696"/>
          </a:xfrm>
          <a:prstGeom prst="roundRect">
            <a:avLst>
              <a:gd name="adj" fmla="val 232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/>
          <p:nvPr/>
        </p:nvSpPr>
        <p:spPr>
          <a:xfrm>
            <a:off x="948690" y="6759178"/>
            <a:ext cx="292298" cy="36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3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1652111" y="6449497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Monitoreo de Red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1652111" y="6854547"/>
            <a:ext cx="6591895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Vigilar tráfico </a:t>
            </a:r>
            <a:r>
              <a:rPr lang="en-US" sz="150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SCTP</a:t>
            </a: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anomalías en ICMP (pings con payloads inusuales). Usar FIM (AIDE/Tripwire) para cambios en archivos críticos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905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Referencias Clave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14807"/>
            <a:ext cx="32943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Informes de Rapid7 Labs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795951"/>
            <a:ext cx="6244709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Mar 2026: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BPFdoor en redes telecom — sleeper cells </a:t>
            </a: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informe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 Abr 2026: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+7 variantes stealth de BPFdoor </a:t>
            </a: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 whitepaper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Script de detección open-source: </a:t>
            </a: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Rapid7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2148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Análisis y Variantes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3795951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Código fuente BPFdoor filtrado (2022): </a:t>
            </a: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Variante Fortinet Symbiote (eBPF): </a:t>
            </a: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Fortinet Threat Research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Detección de variantes: </a:t>
            </a:r>
            <a:r>
              <a:rPr lang="en-US" sz="1750" u="sng" dirty="0">
                <a:solidFill>
                  <a:srgbClr val="66A8EE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Trend Micro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httpShell / icmpShell: túneles HTTP e ICMP con filtros BPF a nivel de kernel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845</Words>
  <Application>Microsoft Office PowerPoint</Application>
  <PresentationFormat>Personalizado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Roboto Slab</vt:lpstr>
      <vt:lpstr>Roboto</vt:lpstr>
      <vt:lpstr>Consolas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Antonio Taboada</dc:creator>
  <cp:lastModifiedBy>ANTONIO TABOADA LLUFRIU</cp:lastModifiedBy>
  <cp:revision>1</cp:revision>
  <dcterms:created xsi:type="dcterms:W3CDTF">2026-04-16T13:23:28Z</dcterms:created>
  <dcterms:modified xsi:type="dcterms:W3CDTF">2026-04-16T13:24:54Z</dcterms:modified>
</cp:coreProperties>
</file>